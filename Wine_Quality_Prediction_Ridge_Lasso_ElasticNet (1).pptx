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4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851593" y="7452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REGRESSION PROJECT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25296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Quality Prediction Using Ridge, Lasso and Elastic Net Regression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numerical wine quality from physicochemical properties using three regularized linear regression models.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48111F"/>
          </a:solidFill>
          <a:ln w="12700">
            <a:solidFill>
              <a:srgbClr val="E4DC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407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Bhavana  </a:t>
            </a: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Manaswini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700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2520030154   |   Section: 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5102352"/>
            <a:ext cx="5029200" cy="0"/>
          </a:xfrm>
          <a:prstGeom prst="line">
            <a:avLst/>
          </a:prstGeom>
          <a:noFill/>
          <a:ln w="12700">
            <a:solidFill>
              <a:srgbClr val="6B28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212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Kasireddy Srihitha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504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2520030153   |   Section: 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996112"/>
            <a:ext cx="4846320" cy="2148840"/>
          </a:xfrm>
          <a:prstGeom prst="roundRect">
            <a:avLst>
              <a:gd name="adj" fmla="val 2979"/>
            </a:avLst>
          </a:prstGeom>
          <a:solidFill>
            <a:srgbClr val="48111F"/>
          </a:solidFill>
          <a:ln w="12700">
            <a:solidFill>
              <a:srgbClr val="E4DC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Shaik Asif 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892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| CSE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5819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3252" y="1924812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numerical quality score of red wine samples from their measurable physicochemical properties — framed as a supervised regression problem.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53912" y="1426285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30363" y="16002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9944" y="1874520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 integer score (3–8 in this dataset) rated by wine tasters; treated as a continuous numeric target for regression.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33192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(11)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611880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volatile acidity, citric acid, residual sugar, chlorides, free/total sulfur dioxide, density, pH, sulphates, alcohol.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3154680"/>
            <a:ext cx="5349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9944" y="331927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9944" y="3611880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grading is slow and subjective. A reliable model built on lab-measurable chemistry lets producers screen batches and support quality control decisions objectively.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3468624" cy="896112"/>
          </a:xfrm>
          <a:prstGeom prst="roundRect">
            <a:avLst>
              <a:gd name="adj" fmla="val 7143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4965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422392"/>
            <a:ext cx="310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5614416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· Lasso · Elastic Net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1584" y="4892040"/>
            <a:ext cx="3468624" cy="896112"/>
          </a:xfrm>
          <a:prstGeom prst="roundRect">
            <a:avLst>
              <a:gd name="adj" fmla="val 7143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92752" y="4965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492752" y="5422392"/>
            <a:ext cx="310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92752" y="5614416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physicochemical, numeric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34528" y="4892040"/>
            <a:ext cx="3468624" cy="896112"/>
          </a:xfrm>
          <a:prstGeom prst="roundRect">
            <a:avLst>
              <a:gd name="adj" fmla="val 7143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35696" y="4965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235696" y="5422392"/>
            <a:ext cx="3102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35696" y="5614416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MSE · RMSE · R²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Ridge (L2), Lasso (L1) and Elastic Net (L1+L2) isolates which regularization strategy best fits this feature set.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27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591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1,143 × 13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33088" y="146304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34256" y="1591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334256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PREDICTORS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17536" y="146304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18704" y="1591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918704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0835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284378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WineQT.csv — Red Wine Physicochemical Properties Dataset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19125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5C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red-wine sample; 11 physicochemical lab measurements plus a sensory </a:t>
            </a:r>
            <a:r>
              <a:rPr lang="en-US" sz="1200" i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(3–8) assigned by tasters. An </a:t>
            </a:r>
            <a:r>
              <a:rPr lang="en-US" sz="1200" i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r>
              <a:rPr lang="en-US" sz="12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(0–1597) is present purely as a row identifier. This structure is consistent with the widely used UCI/Kaggle “Red Wine Quality” dataset format.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10835640" cy="1417320"/>
          </a:xfrm>
          <a:prstGeom prst="roundRect">
            <a:avLst>
              <a:gd name="adj" fmla="val 4516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51713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 SUITS THE PROJECT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280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predictors are continuous numeric measurements — ideal for linear, regularization-based models. No missing data or duplicate rows were found (see Slide 5), and the target is a genuine ordinal/continuous score, making this a clean, well-posed regression problem for comparing Ridge, Lasso and Elastic Net.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(1143, 13)      </a:t>
            </a:r>
            <a:r>
              <a:rPr lang="en-US" sz="1250" b="1" dirty="0">
                <a:solidFill>
                  <a:srgbClr val="5C1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r>
              <a:rPr lang="en-US" sz="12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shown below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35" cy="1760220"/>
        </p:xfrm>
        <a:graphic>
          <a:graphicData uri="http://schemas.openxmlformats.org/drawingml/2006/table">
            <a:tbl>
              <a:tblPr/>
              <a:tblGrid>
                <a:gridCol w="851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10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fixed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acidity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volatile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acidity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citric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acid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residual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sugar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chlorides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free SO2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total SO2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density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sulphates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alcohol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quality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0.70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1.9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0.076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11.0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34.0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0.9978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0.88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2.6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0.098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25.0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67.0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0.9968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3.20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0.68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0.76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2.3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0.092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15.0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54.0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0.9970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3.26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0.65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11.2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0.28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1.9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0.075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17.0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60.0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0.9980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3.16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7.4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0.66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1.8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0.075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13.0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40.0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0.9978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3.51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0.56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9.4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29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4904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3931920"/>
            <a:ext cx="73152" cy="73152"/>
          </a:xfrm>
          <a:prstGeom prst="roundRect">
            <a:avLst/>
          </a:prstGeom>
          <a:solidFill>
            <a:srgbClr val="C79A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8770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Acidity &amp; Composition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fixed/volatile acidity, citric acid, residual sugar, chlorides — determine taste balance and preservation.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8536" y="374904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3931920"/>
            <a:ext cx="73152" cy="73152"/>
          </a:xfrm>
          <a:prstGeom prst="roundRect">
            <a:avLst/>
          </a:prstGeom>
          <a:solidFill>
            <a:srgbClr val="C79A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54296" y="38770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Sulfur &amp; Stability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489704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total sulfur dioxide act as preservatives; density and pH describe the wine's physical/chemical profile.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28432" y="3749040"/>
            <a:ext cx="3538728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0" y="3931920"/>
            <a:ext cx="73152" cy="73152"/>
          </a:xfrm>
          <a:prstGeom prst="roundRect">
            <a:avLst/>
          </a:prstGeom>
          <a:solidFill>
            <a:srgbClr val="C79A3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94192" y="3877056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Sensory &amp; ID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251960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 and alcohol influence mouthfeel and strength; quality is the target; Id is a non-predictive row identifier.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73880" y="1490472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56760" y="1490472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0 for all 13 columns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53400" y="1490472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90560" y="1490472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required — dataset is complete.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386584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rows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3880" y="2386584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56760" y="2386584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→ 0 duplicate records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3400" y="2386584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0560" y="2386584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rows removed.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282696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73880" y="3282696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6760" y="3282696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features are float64; quality and Id are int64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3400" y="3282696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0560" y="3282696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are already correct for numeric modeling.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17848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178808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column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73880" y="4178808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6760" y="4178808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row identifier (0–1597), not a chemical property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53400" y="4178808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0560" y="4178808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before training — it carries no predictive signal.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01768"/>
            <a:ext cx="110642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5074920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73880" y="5074920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6760" y="5074920"/>
            <a:ext cx="332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chlorides, residual sugar and sulphates show heavy right-skew (see Slide 9)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53400" y="5074920"/>
            <a:ext cx="0" cy="621792"/>
          </a:xfrm>
          <a:prstGeom prst="line">
            <a:avLst/>
          </a:prstGeom>
          <a:noFill/>
          <a:ln w="12700">
            <a:solidFill>
              <a:srgbClr val="E4DC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0560" y="5074920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C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— regularization (Ridge/Lasso/EN) is naturally robust to moderate outliers; scaling applied instead of removal.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5676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9056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DECISION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Wine Quality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quality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4922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17320"/>
            <a:ext cx="3913632" cy="2423160"/>
          </a:xfrm>
          <a:prstGeom prst="roundRect">
            <a:avLst>
              <a:gd name="adj" fmla="val 2642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2784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9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quality.value_counts()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2784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27848" y="21808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4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21808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27848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927848" y="27934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6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27934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462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927848" y="3099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7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646920" y="3099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927848" y="34061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8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646920" y="34061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726680" y="4023360"/>
            <a:ext cx="3913632" cy="1554480"/>
          </a:xfrm>
          <a:prstGeom prst="roundRect">
            <a:avLst>
              <a:gd name="adj" fmla="val 4706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927848" y="402336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 concentrate heavily around 5 and 6 (83% of samples), with very few wines rated 3, 4 or 8. The target is imbalanced and roughly bell-shaped, not uniform — a factor to consider when interpreting model error at the distribution's tails.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EXPLORATORY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Alcohol vs.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alcohol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4922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17320"/>
            <a:ext cx="3913632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2784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QUALITY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27848" y="18105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+0.48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927848" y="2514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single-feature correlation with quality in this dataset.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26680" y="4023360"/>
            <a:ext cx="3913632" cy="1554480"/>
          </a:xfrm>
          <a:prstGeom prst="roundRect">
            <a:avLst>
              <a:gd name="adj" fmla="val 4706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27848" y="402336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alcohol content rises visibly from quality 5 through 8 — higher-rated wines are consistently more alcoholic. This makes alcohol the single most informative physicochemical predictor of quality.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Volatile Acidity vs.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va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4922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17320"/>
            <a:ext cx="3913632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2784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QUALITY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27848" y="181051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−0.41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927848" y="2514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negative correlation with quality among all 11 features.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26680" y="4023360"/>
            <a:ext cx="3913632" cy="1554480"/>
          </a:xfrm>
          <a:prstGeom prst="roundRect">
            <a:avLst>
              <a:gd name="adj" fmla="val 4706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27848" y="4023360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 (acetic-acid content, linked to a vinegar-like taste) trends downward as quality rises. Together with alcohol, it forms the clearest two-feature signal in the dataset.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Distributions &amp; Outlier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feature_di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10698480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370832"/>
            <a:ext cx="3538728" cy="1234440"/>
          </a:xfrm>
          <a:prstGeom prst="roundRect">
            <a:avLst>
              <a:gd name="adj" fmla="val 518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9808" y="44988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Right-Skew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791456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chlorides (skew ≈ 6.0) and residual sugar (skew ≈ 4.4) show most values clustered low, with a long tail of high-outlier samples.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88536" y="4370832"/>
            <a:ext cx="3538728" cy="1234440"/>
          </a:xfrm>
          <a:prstGeom prst="roundRect">
            <a:avLst>
              <a:gd name="adj" fmla="val 518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89704" y="44988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Skew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489704" y="4791456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sulphates, total &amp; free sulfur dioxide, fixed acidity and alcohol are moderately skewed (skew 0.9–2.5) — typical for chemical measurements.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28432" y="4370832"/>
            <a:ext cx="3538728" cy="1234440"/>
          </a:xfrm>
          <a:prstGeom prst="roundRect">
            <a:avLst>
              <a:gd name="adj" fmla="val 518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0" y="44988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Differences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91456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range from ~0.01 (chlorides) to ~289 (total SO₂) — very different scales, which is why StandardScaler is required before regularized regression.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6751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5" name="Image 0" descr="assets/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6192"/>
            <a:ext cx="6400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417320"/>
            <a:ext cx="41879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53528" y="1554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LINKS TO QUALITY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53528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1847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+0.48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653528" y="21534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acidity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21534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−0.41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653528" y="2459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sulphates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2459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+0.26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653528" y="27660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citric acid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0" y="27660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C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+0.24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653528" y="30723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sulfur dioxide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241280" y="3072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C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−0.18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52360" y="3886200"/>
            <a:ext cx="4187952" cy="1005840"/>
          </a:xfrm>
          <a:prstGeom prst="roundRect">
            <a:avLst>
              <a:gd name="adj" fmla="val 6364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653528" y="3886200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multicollinearity: fixed acidity ↔ citric acid (0.67), fixed acidity ↔ density (0.68), fixed acidity ↔ pH (−0.69).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52360" y="5029200"/>
            <a:ext cx="4187952" cy="1097280"/>
          </a:xfrm>
          <a:prstGeom prst="roundRect">
            <a:avLst>
              <a:gd name="adj" fmla="val 6667"/>
            </a:avLst>
          </a:prstGeom>
          <a:solidFill>
            <a:srgbClr val="5C1A2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653528" y="5029200"/>
            <a:ext cx="3785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: 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shows association, not causation. Several predictors are inter-correlated — exactly the setting where Ridge, Lasso and Elastic Net's regularization helps stabilize coefficients.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Preprocessing &amp;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6" name="Image 0" descr="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9" y="18452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/ Target Separation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11 physicochemical columns; y = quality.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11" name="Image 1" descr="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159" y="18452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Identifier Column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50215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removed — it is a row index with no chemical meaning and would only inject noise.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946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16" name="Image 2" descr="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079" y="18452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9107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9107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random_state = 42, applied after separating features and target.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14630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8380" y="1691640"/>
            <a:ext cx="640080" cy="640080"/>
          </a:xfrm>
          <a:prstGeom prst="ellipse">
            <a:avLst/>
          </a:prstGeom>
          <a:solidFill>
            <a:srgbClr val="5C1A2B"/>
          </a:solidFill>
          <a:ln/>
        </p:spPr>
      </p:sp>
      <p:pic>
        <p:nvPicPr>
          <p:cNvPr id="21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999" y="18452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79992" y="24871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 — StandardScaler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079992" y="29992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features standardized to zero mean / unit variance after the split (fit on train, applied to test).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10835640" cy="1600200"/>
          </a:xfrm>
          <a:prstGeom prst="roundRect">
            <a:avLst>
              <a:gd name="adj" fmla="val 4000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77240" y="4114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SCALING IS ESSENTIAL FOR RIDGE, LASSO &amp; ELASTIC NET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4348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penalizes the magnitude of coefficients (L2 for Ridge, L1 for Lasso, both for Elastic Net). Features on larger raw scales — e.g. total sulfur dioxide (up to 289) versus chlorides (as low as 0.01) — would otherwise be penalized unevenly. Standardizing puts every feature on a comparable scale so the penalty reflects true predictive importance, not measurement units.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80644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engineered features were created — all 11 physicochemical measurements are used directly, since each represents an independent, meaningful lab measurement.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MODELING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121408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46934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20086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019702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5229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18381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17997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3523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16675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Feature/Target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16291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41818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14970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14586" y="1508760"/>
            <a:ext cx="3255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40112" y="150876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113264" y="150876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3042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9808" y="27614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05409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337560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smoothly; keeps all features, reduces variance.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297680" y="26517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498848" y="27614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Regression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305409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498848" y="3337560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weak-feature coefficients to exactly zero; performs feature selection.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046720" y="265176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47888" y="276148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 Regression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305409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L2 Regularization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3337560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both penalties — feature selection with correlated-feature stability.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041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00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4315968"/>
            <a:ext cx="21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3680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4594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974080" y="4315968"/>
            <a:ext cx="21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874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2788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793480" y="4315968"/>
            <a:ext cx="21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006840" y="4315968"/>
            <a:ext cx="2606040" cy="566928"/>
          </a:xfrm>
          <a:prstGeom prst="roundRect">
            <a:avLst>
              <a:gd name="adj" fmla="val 11290"/>
            </a:avLst>
          </a:prstGeom>
          <a:solidFill>
            <a:srgbClr val="C79A3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0982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 &amp; Comparison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309360" cy="16916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Hyperparameter(s)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Ridge Regression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alpha = 50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0.476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0.374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0.612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0.327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Lasso Regression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alpha = 0.01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0.474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0.370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0.608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292A"/>
                          </a:solidFill>
                        </a:rPr>
                        <a:t>0.335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C1A2B"/>
                          </a:solidFill>
                        </a:rPr>
                        <a:t>Elastic Net Regression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alpha = 0.05, l1_ratio = 0.2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0.475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0.369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0.608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292A"/>
                          </a:solidFill>
                        </a:rPr>
                        <a:t>0.337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004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6309360" cy="2331720"/>
          </a:xfrm>
          <a:prstGeom prst="roundRect">
            <a:avLst>
              <a:gd name="adj" fmla="val 2745"/>
            </a:avLst>
          </a:prstGeom>
          <a:solidFill>
            <a:srgbClr val="5C1A2B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27529" y="4041648"/>
            <a:ext cx="60018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Elastic Net Regression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389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 (0.337) and lowest RMSE (0.608) on the held-out test set — narrowly ahead of Lasso and clearly ahead of Ridge.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74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1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explain roughly a third of the variance in quality — expected given the moderate correlations seen in EDA (Slide 10) and the inherent noise in sensory ratings.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086600" y="1417320"/>
            <a:ext cx="4553712" cy="4709160"/>
          </a:xfrm>
          <a:prstGeom prst="roundRect">
            <a:avLst>
              <a:gd name="adj" fmla="val 1406"/>
            </a:avLst>
          </a:prstGeom>
          <a:solidFill>
            <a:srgbClr val="FFFFFF"/>
          </a:solidFill>
          <a:ln w="12700">
            <a:solidFill>
              <a:srgbClr val="E4DCD3"/>
            </a:solidFill>
            <a:prstDash val="solid"/>
          </a:ln>
          <a:effectLst>
            <a:outerShdw blurRad="101600" dist="25400" dir="5400000" algn="bl" rotWithShape="0">
              <a:srgbClr val="3D0F1C">
                <a:alpha val="10000"/>
              </a:srgbClr>
            </a:outerShdw>
          </a:effectLst>
        </p:spPr>
      </p:sp>
      <p:pic>
        <p:nvPicPr>
          <p:cNvPr id="12" name="Image 1" descr="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4206240" cy="32918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49834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edges out Lasso and Ridge on both R² (higher is better) and RMSE (lower is better), confirming that combining L1 + L2 regularization suits this feature set best.</a:t>
            </a:r>
            <a:endParaRPr lang="en-US" sz="1000" dirty="0"/>
          </a:p>
        </p:txBody>
      </p:sp>
      <p:sp>
        <p:nvSpPr>
          <p:cNvPr id="4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947672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18745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the numerical quality score (3–8) of red wine samples from 11 physicochemical measurements using three regularized linear regression models.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253288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(+0.48) and volatile acidity (−0.41) emerged as the most influential predictors — higher alcohol and lower volatile acidity both associate with higher-rated wines.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264408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19125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and Elastic Net were tuned via 5-fold cross-validated grid search and compared on MAE, MSE, RMSE and R² on a held-out test set.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22776"/>
            <a:ext cx="109728" cy="109728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84962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Regression performed best (R² = 0.337, RMSE = 0.608), narrowly ahead of Lasso and ahead of Ridge — suggesting a blend of L1 feature selection and L2 stability fits this data slightly better than either penalty alone.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645152"/>
            <a:ext cx="10515600" cy="0"/>
          </a:xfrm>
          <a:prstGeom prst="line">
            <a:avLst/>
          </a:prstGeom>
          <a:noFill/>
          <a:ln w="12700">
            <a:solidFill>
              <a:srgbClr val="6B28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0" y="5010912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400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1628</Words>
  <Application>Microsoft Office PowerPoint</Application>
  <PresentationFormat>Widescreen</PresentationFormat>
  <Paragraphs>310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balaji p</cp:lastModifiedBy>
  <cp:revision>5</cp:revision>
  <dcterms:created xsi:type="dcterms:W3CDTF">2026-08-28T05:54:58Z</dcterms:created>
  <dcterms:modified xsi:type="dcterms:W3CDTF">2026-08-29T05:01:27Z</dcterms:modified>
</cp:coreProperties>
</file>